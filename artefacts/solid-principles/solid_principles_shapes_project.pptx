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34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47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SOLID Principles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Shapes Inheritance Project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Python OOP + Testing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 — Single Responsibility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96">
                <a:latin typeface="Courier New"/>
              </a:defRPr>
            </a:pPr>
            <a:r>
              <a:rPr sz="1584" dirty="0">
                <a:latin typeface="Arial" panose="020B0604020202020204" pitchFamily="34" charset="0"/>
                <a:cs typeface="Arial" panose="020B0604020202020204" pitchFamily="34" charset="0"/>
              </a:rPr>
              <a:t>Each class should have one responsibility</a:t>
            </a:r>
          </a:p>
          <a:p>
            <a:pPr>
              <a:defRPr sz="1584"/>
            </a:pPr>
            <a:r>
              <a:rPr sz="1584" dirty="0">
                <a:latin typeface="Arial" panose="020B0604020202020204" pitchFamily="34" charset="0"/>
                <a:cs typeface="Arial" panose="020B0604020202020204" pitchFamily="34" charset="0"/>
              </a:rPr>
              <a:t>Circle calculates only circle area</a:t>
            </a:r>
          </a:p>
          <a:p>
            <a:pPr>
              <a:defRPr sz="1584"/>
            </a:pPr>
            <a:r>
              <a:rPr sz="1584" dirty="0">
                <a:latin typeface="Arial" panose="020B0604020202020204" pitchFamily="34" charset="0"/>
                <a:cs typeface="Arial" panose="020B0604020202020204" pitchFamily="34" charset="0"/>
              </a:rPr>
              <a:t>Square calculates only square area</a:t>
            </a:r>
          </a:p>
          <a:p>
            <a:pPr>
              <a:defRPr sz="1584"/>
            </a:pPr>
            <a:r>
              <a:rPr sz="1584" dirty="0">
                <a:latin typeface="Arial" panose="020B0604020202020204" pitchFamily="34" charset="0"/>
                <a:cs typeface="Arial" panose="020B0604020202020204" pitchFamily="34" charset="0"/>
              </a:rPr>
              <a:t>Triangle calculates only triangle area</a:t>
            </a:r>
            <a:endParaRPr lang="en-GB" sz="1584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584"/>
            </a:pPr>
            <a:endParaRPr lang="en-GB" sz="1584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584"/>
            </a:pPr>
            <a:r>
              <a:rPr sz="1584" dirty="0">
                <a:latin typeface="Arial" panose="020B0604020202020204" pitchFamily="34" charset="0"/>
                <a:cs typeface="Arial" panose="020B0604020202020204" pitchFamily="34" charset="0"/>
              </a:rPr>
              <a:t>Code Example</a:t>
            </a:r>
            <a:r>
              <a:rPr lang="en-GB" sz="1584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sz="1584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00050" lvl="1" indent="0">
              <a:buNone/>
              <a:defRPr sz="1296">
                <a:latin typeface="Courier New"/>
              </a:defRPr>
            </a:pPr>
            <a:r>
              <a:rPr sz="1584" dirty="0">
                <a:latin typeface="Arial" panose="020B0604020202020204" pitchFamily="34" charset="0"/>
                <a:cs typeface="Arial" panose="020B0604020202020204" pitchFamily="34" charset="0"/>
              </a:rPr>
              <a:t>class Circle(Shape):</a:t>
            </a:r>
          </a:p>
          <a:p>
            <a:pPr marL="400050" lvl="1" indent="0">
              <a:buNone/>
              <a:defRPr sz="1296">
                <a:latin typeface="Courier New"/>
              </a:defRPr>
            </a:pPr>
            <a:r>
              <a:rPr sz="1584" dirty="0">
                <a:latin typeface="Arial" panose="020B0604020202020204" pitchFamily="34" charset="0"/>
                <a:cs typeface="Arial" panose="020B0604020202020204" pitchFamily="34" charset="0"/>
              </a:rPr>
              <a:t>    def calculate_area(self):</a:t>
            </a:r>
          </a:p>
          <a:p>
            <a:pPr marL="400050" lvl="1" indent="0">
              <a:buNone/>
              <a:defRPr sz="1296">
                <a:latin typeface="Courier New"/>
              </a:defRPr>
            </a:pPr>
            <a:r>
              <a:rPr sz="1584" dirty="0">
                <a:latin typeface="Arial" panose="020B0604020202020204" pitchFamily="34" charset="0"/>
                <a:cs typeface="Arial" panose="020B0604020202020204" pitchFamily="34" charset="0"/>
              </a:rPr>
              <a:t>        return math.pi * self.radius * self.radius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O — Open/Closed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84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Software should be open for extension</a:t>
            </a:r>
          </a:p>
          <a:p>
            <a:pPr>
              <a:defRPr sz="1584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But closed for modification</a:t>
            </a:r>
          </a:p>
          <a:p>
            <a:pPr>
              <a:defRPr sz="1584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New shapes can be added without changing existing code</a:t>
            </a:r>
          </a:p>
          <a:p>
            <a:pPr>
              <a:defRPr sz="1584"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584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Code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  <a:p>
            <a:pPr marL="0" indent="0">
              <a:buNone/>
              <a:defRPr sz="1584"/>
            </a:pPr>
            <a:r>
              <a:rPr lang="en-GB" sz="1584" dirty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sz="1584" dirty="0">
                <a:latin typeface="Arial" panose="020B0604020202020204" pitchFamily="34" charset="0"/>
                <a:cs typeface="Arial" panose="020B0604020202020204" pitchFamily="34" charset="0"/>
              </a:rPr>
              <a:t>class Rectangle(Shape):</a:t>
            </a:r>
          </a:p>
          <a:p>
            <a:pPr marL="400050" lvl="1" indent="0">
              <a:buNone/>
              <a:defRPr sz="1296">
                <a:latin typeface="Courier New"/>
              </a:defRPr>
            </a:pPr>
            <a:r>
              <a:rPr sz="1584" dirty="0">
                <a:latin typeface="Arial" panose="020B0604020202020204" pitchFamily="34" charset="0"/>
                <a:cs typeface="Arial" panose="020B0604020202020204" pitchFamily="34" charset="0"/>
              </a:rPr>
              <a:t>    def calculate_area(self):</a:t>
            </a:r>
          </a:p>
          <a:p>
            <a:pPr marL="400050" lvl="1" indent="0">
              <a:buNone/>
              <a:defRPr sz="1296">
                <a:latin typeface="Courier New"/>
              </a:defRPr>
            </a:pPr>
            <a:r>
              <a:rPr sz="1584" dirty="0">
                <a:latin typeface="Arial" panose="020B0604020202020204" pitchFamily="34" charset="0"/>
                <a:cs typeface="Arial" panose="020B0604020202020204" pitchFamily="34" charset="0"/>
              </a:rPr>
              <a:t>        return self.length * self.width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L — Liskov Substitution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84"/>
            </a:pPr>
            <a:r>
              <a:rPr sz="1584" dirty="0">
                <a:latin typeface="Arial" panose="020B0604020202020204" pitchFamily="34" charset="0"/>
                <a:cs typeface="Arial" panose="020B0604020202020204" pitchFamily="34" charset="0"/>
              </a:rPr>
              <a:t>Subclasses should replace parent classes safely</a:t>
            </a:r>
          </a:p>
          <a:p>
            <a:pPr>
              <a:defRPr sz="1296">
                <a:latin typeface="Courier New"/>
              </a:defRPr>
            </a:pPr>
            <a:r>
              <a:rPr sz="1584" dirty="0">
                <a:latin typeface="Arial" panose="020B0604020202020204" pitchFamily="34" charset="0"/>
                <a:cs typeface="Arial" panose="020B0604020202020204" pitchFamily="34" charset="0"/>
              </a:rPr>
              <a:t>Any Shape subclass should work as a Shape</a:t>
            </a:r>
          </a:p>
          <a:p>
            <a:pPr>
              <a:defRPr sz="1584"/>
            </a:pPr>
            <a:endParaRPr sz="1584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584"/>
            </a:pPr>
            <a:r>
              <a:rPr lang="en-GB" sz="1584" dirty="0">
                <a:latin typeface="Arial" panose="020B0604020202020204" pitchFamily="34" charset="0"/>
                <a:cs typeface="Arial" panose="020B0604020202020204" pitchFamily="34" charset="0"/>
              </a:rPr>
              <a:t>Code </a:t>
            </a:r>
            <a:r>
              <a:rPr sz="1584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r>
              <a:rPr lang="en-GB" sz="1584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sz="1584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  <a:defRPr sz="1584"/>
            </a:pPr>
            <a:r>
              <a:rPr lang="en-GB" sz="1584" dirty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sz="1584" dirty="0">
                <a:latin typeface="Arial" panose="020B0604020202020204" pitchFamily="34" charset="0"/>
                <a:cs typeface="Arial" panose="020B0604020202020204" pitchFamily="34" charset="0"/>
              </a:rPr>
              <a:t>shapes = [Circle(5), Square(4), Triangle(3,2)]</a:t>
            </a:r>
            <a:endParaRPr lang="en-GB" sz="1584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  <a:defRPr sz="1584"/>
            </a:pPr>
            <a:r>
              <a:rPr lang="en-GB" sz="1584" dirty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sz="1584" dirty="0">
                <a:latin typeface="Arial" panose="020B0604020202020204" pitchFamily="34" charset="0"/>
                <a:cs typeface="Arial" panose="020B0604020202020204" pitchFamily="34" charset="0"/>
              </a:rPr>
              <a:t>for shape in shapes:</a:t>
            </a:r>
          </a:p>
          <a:p>
            <a:pPr marL="0" indent="0">
              <a:buNone/>
              <a:defRPr sz="1296">
                <a:latin typeface="Courier New"/>
              </a:defRPr>
            </a:pPr>
            <a:r>
              <a:rPr sz="1584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GB" sz="1584" dirty="0"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sz="1584" dirty="0">
                <a:latin typeface="Arial" panose="020B0604020202020204" pitchFamily="34" charset="0"/>
                <a:cs typeface="Arial" panose="020B0604020202020204" pitchFamily="34" charset="0"/>
              </a:rPr>
              <a:t>print(shape.calculate_area())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 — Interface Segregation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84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Classes should not be forced to use methods they do not need</a:t>
            </a:r>
          </a:p>
          <a:p>
            <a:pPr>
              <a:defRPr sz="1584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Shape only requires calculate_area()</a:t>
            </a:r>
          </a:p>
          <a:p>
            <a:pPr>
              <a:defRPr sz="1584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Simple and focused interface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Dependency Inversion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84"/>
            </a:pPr>
            <a:r>
              <a:rPr sz="1584" dirty="0">
                <a:latin typeface="Arial" panose="020B0604020202020204" pitchFamily="34" charset="0"/>
                <a:cs typeface="Arial" panose="020B0604020202020204" pitchFamily="34" charset="0"/>
              </a:rPr>
              <a:t>Depend on abstractions, not concrete classes</a:t>
            </a:r>
          </a:p>
          <a:p>
            <a:pPr>
              <a:defRPr sz="1584"/>
            </a:pPr>
            <a:r>
              <a:rPr sz="1584" dirty="0">
                <a:latin typeface="Arial" panose="020B0604020202020204" pitchFamily="34" charset="0"/>
                <a:cs typeface="Arial" panose="020B0604020202020204" pitchFamily="34" charset="0"/>
              </a:rPr>
              <a:t>Program works with Shape abstraction</a:t>
            </a:r>
          </a:p>
          <a:p>
            <a:pPr>
              <a:defRPr sz="1584"/>
            </a:pPr>
            <a:r>
              <a:rPr sz="1584" dirty="0">
                <a:latin typeface="Arial" panose="020B0604020202020204" pitchFamily="34" charset="0"/>
                <a:cs typeface="Arial" panose="020B0604020202020204" pitchFamily="34" charset="0"/>
              </a:rPr>
              <a:t>Not directly tied to Circle or Square</a:t>
            </a:r>
          </a:p>
          <a:p>
            <a:pPr>
              <a:defRPr sz="1584"/>
            </a:pPr>
            <a:endParaRPr sz="1584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584"/>
            </a:pPr>
            <a:r>
              <a:rPr lang="en-GB" sz="1584" dirty="0">
                <a:latin typeface="Arial" panose="020B0604020202020204" pitchFamily="34" charset="0"/>
                <a:cs typeface="Arial" panose="020B0604020202020204" pitchFamily="34" charset="0"/>
              </a:rPr>
              <a:t>Code </a:t>
            </a:r>
            <a:r>
              <a:rPr sz="1584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r>
              <a:rPr lang="en-GB" sz="1584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sz="1584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  <a:defRPr sz="1584"/>
            </a:pPr>
            <a:r>
              <a:rPr lang="en-GB" sz="1584" dirty="0">
                <a:latin typeface="Arial" panose="020B0604020202020204" pitchFamily="34" charset="0"/>
                <a:cs typeface="Arial" panose="020B0604020202020204" pitchFamily="34" charset="0"/>
              </a:rPr>
              <a:t>       shapes = [Circle(5), Square(4), Triangle(3,2)]</a:t>
            </a:r>
          </a:p>
          <a:p>
            <a:pPr marL="0" indent="0">
              <a:buNone/>
              <a:defRPr sz="1584"/>
            </a:pPr>
            <a:r>
              <a:rPr lang="en-GB" sz="1584" dirty="0">
                <a:latin typeface="Arial" panose="020B0604020202020204" pitchFamily="34" charset="0"/>
                <a:cs typeface="Arial" panose="020B0604020202020204" pitchFamily="34" charset="0"/>
              </a:rPr>
              <a:t>       for shape in shapes:</a:t>
            </a:r>
          </a:p>
          <a:p>
            <a:pPr marL="0" indent="0">
              <a:buNone/>
              <a:defRPr sz="1296">
                <a:latin typeface="Courier New"/>
              </a:defRPr>
            </a:pPr>
            <a:r>
              <a:rPr lang="en-GB" sz="1584">
                <a:latin typeface="Arial" panose="020B0604020202020204" pitchFamily="34" charset="0"/>
                <a:cs typeface="Arial" panose="020B0604020202020204" pitchFamily="34" charset="0"/>
              </a:rPr>
              <a:t>            </a:t>
            </a:r>
            <a:r>
              <a:rPr lang="en-GB" sz="1584" dirty="0">
                <a:latin typeface="Arial" panose="020B0604020202020204" pitchFamily="34" charset="0"/>
                <a:cs typeface="Arial" panose="020B0604020202020204" pitchFamily="34" charset="0"/>
              </a:rPr>
              <a:t>print(shape.calculate_area())</a:t>
            </a:r>
            <a:endParaRPr sz="1584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Pytest Unit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84"/>
            </a:pPr>
            <a:r>
              <a:rPr sz="1584" dirty="0">
                <a:latin typeface="Arial" panose="020B0604020202020204" pitchFamily="34" charset="0"/>
                <a:cs typeface="Arial" panose="020B0604020202020204" pitchFamily="34" charset="0"/>
              </a:rPr>
              <a:t>Unit testing verifies individual classes</a:t>
            </a:r>
          </a:p>
          <a:p>
            <a:pPr>
              <a:defRPr sz="1584"/>
            </a:pPr>
            <a:r>
              <a:rPr sz="1584" dirty="0">
                <a:latin typeface="Arial" panose="020B0604020202020204" pitchFamily="34" charset="0"/>
                <a:cs typeface="Arial" panose="020B0604020202020204" pitchFamily="34" charset="0"/>
              </a:rPr>
              <a:t>Pytest automatically discovers test functions</a:t>
            </a:r>
          </a:p>
          <a:p>
            <a:pPr>
              <a:defRPr sz="1584"/>
            </a:pPr>
            <a:endParaRPr sz="1584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584"/>
            </a:pPr>
            <a:r>
              <a:rPr sz="1584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r>
              <a:rPr lang="en-GB" sz="1584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sz="1584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  <a:defRPr sz="1296">
                <a:latin typeface="Courier New"/>
              </a:defRPr>
            </a:pPr>
            <a:r>
              <a:rPr lang="en-GB" sz="1584" dirty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sz="1584" dirty="0">
                <a:latin typeface="Arial" panose="020B0604020202020204" pitchFamily="34" charset="0"/>
                <a:cs typeface="Arial" panose="020B0604020202020204" pitchFamily="34" charset="0"/>
              </a:rPr>
              <a:t>def test_square_area():</a:t>
            </a:r>
            <a:endParaRPr lang="en-GB" sz="1584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  <a:defRPr sz="1296">
                <a:latin typeface="Courier New"/>
              </a:defRPr>
            </a:pPr>
            <a:r>
              <a:rPr sz="1584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GB" sz="1584" dirty="0">
                <a:latin typeface="Arial" panose="020B0604020202020204" pitchFamily="34" charset="0"/>
                <a:cs typeface="Arial" panose="020B0604020202020204" pitchFamily="34" charset="0"/>
              </a:rPr>
              <a:t>	  </a:t>
            </a:r>
            <a:r>
              <a:rPr sz="1584" dirty="0">
                <a:latin typeface="Arial" panose="020B0604020202020204" pitchFamily="34" charset="0"/>
                <a:cs typeface="Arial" panose="020B0604020202020204" pitchFamily="34" charset="0"/>
              </a:rPr>
              <a:t>square = Square(4)</a:t>
            </a:r>
          </a:p>
          <a:p>
            <a:pPr marL="0" indent="0">
              <a:buNone/>
              <a:defRPr sz="1296">
                <a:latin typeface="Courier New"/>
              </a:defRPr>
            </a:pPr>
            <a:r>
              <a:rPr lang="en-GB" sz="1584" dirty="0">
                <a:latin typeface="Arial" panose="020B0604020202020204" pitchFamily="34" charset="0"/>
                <a:cs typeface="Arial" panose="020B0604020202020204" pitchFamily="34" charset="0"/>
              </a:rPr>
              <a:t>	  </a:t>
            </a:r>
            <a:r>
              <a:rPr sz="1584" dirty="0">
                <a:latin typeface="Arial" panose="020B0604020202020204" pitchFamily="34" charset="0"/>
                <a:cs typeface="Arial" panose="020B0604020202020204" pitchFamily="34" charset="0"/>
              </a:rPr>
              <a:t>assert square.calculate_area() ==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E2F52-8B3C-411E-79E7-F119D246B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Program Execution and Testing</a:t>
            </a: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8159159C-ADEB-E02D-11A3-2EAFD366AE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Program executed successfully in Python IDLE</a:t>
            </a:r>
          </a:p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pytest used for unit testing</a:t>
            </a:r>
          </a:p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All tests passed successfully</a:t>
            </a:r>
          </a:p>
          <a:p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6846D29-5115-9DA4-A700-BE27E1507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62006"/>
            <a:ext cx="4054191" cy="278916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051ACEB-05D7-9D83-393F-D21DE162C9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610" y="2883937"/>
            <a:ext cx="3901789" cy="2789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867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220496"/>
          </a:xfrm>
        </p:spPr>
        <p:txBody>
          <a:bodyPr/>
          <a:lstStyle/>
          <a:p>
            <a:pPr>
              <a:defRPr sz="1584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Demonstrated abstraction, inheritance, and polymorphism</a:t>
            </a:r>
          </a:p>
          <a:p>
            <a:pPr>
              <a:defRPr sz="1584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Applied SOLID principles in Python</a:t>
            </a:r>
          </a:p>
          <a:p>
            <a:pPr>
              <a:defRPr sz="1584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Used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pytest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for unit testing</a:t>
            </a:r>
          </a:p>
          <a:p>
            <a:pPr>
              <a:defRPr sz="1584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Created reusable and maintainable code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584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  <a:defRPr sz="1584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en-GB" sz="1584" b="1" dirty="0"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</a:p>
          <a:p>
            <a:pPr marL="0" indent="0">
              <a:buNone/>
              <a:defRPr sz="1584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      University of Essex Online (2026) ‘Unit 2: SOLID Principles</a:t>
            </a:r>
          </a:p>
          <a:p>
            <a:pPr marL="0" indent="0">
              <a:buNone/>
              <a:defRPr sz="1584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      of Object-Oriented Design</a:t>
            </a:r>
            <a:r>
              <a:rPr lang="en-GB" i="1" dirty="0">
                <a:latin typeface="Arial" panose="020B0604020202020204" pitchFamily="34" charset="0"/>
                <a:cs typeface="Arial" panose="020B0604020202020204" pitchFamily="34" charset="0"/>
              </a:rPr>
              <a:t>’, Advanced Object-Oriented Design and Programming </a:t>
            </a:r>
          </a:p>
          <a:p>
            <a:pPr marL="0" indent="0">
              <a:buNone/>
              <a:defRPr sz="1584"/>
            </a:pPr>
            <a:r>
              <a:rPr lang="en-GB" i="1" dirty="0">
                <a:latin typeface="Arial" panose="020B0604020202020204" pitchFamily="34" charset="0"/>
                <a:cs typeface="Arial" panose="020B0604020202020204" pitchFamily="34" charset="0"/>
              </a:rPr>
              <a:t>       module.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370</Words>
  <Application>Microsoft Office PowerPoint</Application>
  <PresentationFormat>On-screen Show (4:3)</PresentationFormat>
  <Paragraphs>65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SOLID Principles in Python</vt:lpstr>
      <vt:lpstr>S — Single Responsibility Principle</vt:lpstr>
      <vt:lpstr>O — Open/Closed Principle</vt:lpstr>
      <vt:lpstr>L — Liskov Substitution Principle</vt:lpstr>
      <vt:lpstr>I — Interface Segregation Principle</vt:lpstr>
      <vt:lpstr>D - Dependency Inversion Principle</vt:lpstr>
      <vt:lpstr>Pytest Unit Testing</vt:lpstr>
      <vt:lpstr>Program Execution and Testing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Chaudhry, Reena</cp:lastModifiedBy>
  <cp:revision>40</cp:revision>
  <dcterms:created xsi:type="dcterms:W3CDTF">2013-01-27T09:14:16Z</dcterms:created>
  <dcterms:modified xsi:type="dcterms:W3CDTF">2026-05-15T12:39:50Z</dcterms:modified>
  <cp:category/>
</cp:coreProperties>
</file>